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A1E11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4" name="Shape 2"/>
          <p:cNvSpPr/>
          <p:nvPr/>
        </p:nvSpPr>
        <p:spPr>
          <a:xfrm>
            <a:off x="5623560" y="0"/>
            <a:ext cx="73152" cy="5143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3291840" cy="320040"/>
          </a:xfrm>
          <a:prstGeom prst="roundRect">
            <a:avLst>
              <a:gd name="adj" fmla="val 28571"/>
            </a:avLst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FCE7"/>
                </a:solidFill>
              </a:rPr>
              <a:t>SMART INDIA HACKATHON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FarmDirect Hub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</a:rPr>
              <a:t>Decentralized Farm-to-Consumer Supply Chain &amp; Agronomic Advisory Ecosystem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0F2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ACC15"/>
                </a:solidFill>
              </a:rPr>
              <a:t>Core Mission &amp; Value Proposition: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• Eliminates 4-6 predatory intermediaries to boost farmer income by 35-40%.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• 25% Advance Escrow Deposit prevents order cancellations &amp; inventory waste.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• Integrated Crop Advisory &amp; Tele-Pathology Disease Detection for smallholders.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Theme: Agriculture, Foodtech &amp; Rural Development  |  Status: Functional Prototype Deployed</a:t>
            </a:r>
            <a:endParaRPr lang="en-US" sz="850" dirty="0"/>
          </a:p>
        </p:txBody>
      </p:sp>
      <p:pic>
        <p:nvPicPr>
          <p:cNvPr id="12" name="Image 0" descr="D:/sih/frontend/public/farmer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731520"/>
            <a:ext cx="2834640" cy="29260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43600" y="731520"/>
            <a:ext cx="2834640" cy="2926080"/>
          </a:xfrm>
          <a:prstGeom prst="rect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37947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F2D1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794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Empowering 140M+ Indian Farmers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Fresh Direct Produce to Consumers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65176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TOPIC 1: PROBLEM STATEMENT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The Broken Agricultural Supply Chain in India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Why smallholder farmers struggle while consumers overpay for stale produce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1B1B"/>
                </a:solidFill>
              </a:rPr>
              <a:t>1. Intermediary Exploitation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• 4 to 6 Middlemen: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Village brokers, APMC agents, traders, wholesalers, retail vendors.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• Value Leakage: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Farmers receive only 25%–30% of final consumer price.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• Exploitative Credit: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Farmers trapped in commission-debt cycles.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46304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600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</a:rPr>
              <a:t>2. Post-Harvest Wastage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47288" y="19659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• 35%–40% Spoilage: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High loss in fruits &amp; vegetables due to multi-day transit hops.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• ₹92,000+ Crore Loss: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Annual economic loss in Indian agricultural food supply.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• Unpredictable Gluts: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Distress selling at ₹1-2/kg during harvest peaks.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46304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00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6534"/>
                </a:solidFill>
              </a:rPr>
              <a:t>3. Advisory &amp; Pathology Void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19659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• Blind Crop Sowing: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Farmers lack statistical data on market demand &amp; profit margins.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• Unchecked Diseases: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Fungal/bacterial infections wipe out yields without rapid advice.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• Agronomist Scarcity: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 agricultural officer per 1,200+ farm families in India.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ACC15"/>
                </a:solidFill>
              </a:rPr>
              <a:t>Traditional Supply Chain vs. FarmDirect Hub Solution: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• Intermediaries: 4-6 Middlemen ➔ 0 Direct Hub Links   |   • Farmer Share: 25-30% ➔ 70-75% Direct Earnings
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• Transit Time: 4-7 Days Multi-hop ➔ Same-day 12-24 Hours   |   • Wastage Rate: ~40% ➔ Under 5% Pre-Ordered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65176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TOPIC 2: TECHNICAL APPROACH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System Architecture &amp; Engineering Implementation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Decentralized multi-tier cloud architecture powering real-time agricultural commerce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3108960" cy="338328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Architecture Highlights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27432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1. Presentation Tier (Client):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React 18 SPA + Vite build engine.
• Tailwind CSS for responsive mobile-first UI.
• Bilingual support (English + Telugu).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2. Application Gateway (Backend):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Node.js &amp; Express RESTful microservices.
• JWT stateless bearer token authentication.
• Multer multipart image streaming for pathology.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3. Data &amp; Storage Layer: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SQLite / sql.js with ACID transactions.
• Local &amp; secure image storage.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4. Cloud Hosting &amp; CI/CD: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• Deployed on Render with automated GitHub sync.</a:t>
            </a:r>
            <a:endParaRPr lang="en-US" sz="900" dirty="0"/>
          </a:p>
        </p:txBody>
      </p:sp>
      <p:pic>
        <p:nvPicPr>
          <p:cNvPr id="11" name="Image 0" descr="D:/sih/FarmDirect_Hub_Architecture_SIH202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4760" y="1463040"/>
            <a:ext cx="4800600" cy="30175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794760" y="1463040"/>
            <a:ext cx="4800600" cy="3017520"/>
          </a:xfrm>
          <a:prstGeom prst="rect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4526280"/>
            <a:ext cx="4800600" cy="32004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/>
        </p:spPr>
      </p:sp>
      <p:sp>
        <p:nvSpPr>
          <p:cNvPr id="14" name="Text 11"/>
          <p:cNvSpPr/>
          <p:nvPr/>
        </p:nvSpPr>
        <p:spPr>
          <a:xfrm>
            <a:off x="3794760" y="45262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Figure 1: Full-Stack Architecture — Portals, Express API, SQLite &amp; Cloud CI/CD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65176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TOPIC 2: TECHNICAL APPROACH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6 Distinct Role-Based Portals &amp; End-to-End Workflow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Granular role separation ensures operational integrity, traceability, and quality control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1. Farmer Portal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List produce, view statistical crop ROI advisory, upload diseased crop photos, track 75% payment settlements.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9050">
            <a:solidFill>
              <a:srgbClr val="7DD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2. Consumer Portal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Browse fresh farm inventory, Hub pickup vs Doorstep delivery, enforce minimum order (₹100/₹300), 25% advance escrow.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AF5FF"/>
          </a:solidFill>
          <a:ln w="19050">
            <a:solidFill>
              <a:srgbClr val="D8B4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3. Large-Scale Consumer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Bulk procurement for hostels, hotels, canteens, catering with wholesale volume pricing and scheduled bulk logistics.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72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4. Regional Coordinator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4747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Operate physical village hubs, inspect inbound produce quality, aggregate orders, distribute and collect 75% balance.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172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5. Agronomic Adviser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Tele-pathology dashboard: analyze farmer disease leaf photos, diagnose symptoms, prescribe organic &amp; chemical remedies.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035040" y="30632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172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6. Admin Super-Portal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34747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Platform governance: strict KYC approval gate for Farmers, Coordinators, and Advisers before active participation.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804672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CC15"/>
                </a:solidFill>
              </a:rPr>
              <a:t>Workflow Loop: Admin KYC Gate ➔ Farmer Listing ➔ Consumer 25% Escrow ➔ Hub Verification ➔ 75% Handover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65176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TOPIC 2: TECHNICAL APPROACH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Statistical Crop Advisory &amp; Disease Diagnosis Workflow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Combining agricultural statistical algorithms with real-time agronomic tele-pathology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Statistical Crop Advisory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3657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• Multi-Factor Agronomic Model: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Evaluates 15+ major regional crops (Paddy, Cotton, Tomato, Chilli, Maize, Groundnut, Red Gram, etc.).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• Dynamic Parametric Evaluation: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Takes Soil Type (Black, Loamy, Red, Clay), Season (Kharif/Rabi/Zaid), Water Availability, and Duration (90-180 days).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• ROI &amp; Profit Forecasting: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Calculates expected yield per acre, historical mandi price trends, estimated cultivation costs, and Net Profit Margins (40%-75%).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• Prevents Market Gluts: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Guides farmers toward high-demand alternative crops before sowing.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Tele-Pathology Disease Diagnosis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1. Leaf Capture: 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Farmer captures crop symptom photo via mobile camera.
</a:t>
            </a:r>
            <a:pPr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2. Ticket Stream: 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Uploaded securely via Multer; auto-queued in Adviser Portal.
</a:t>
            </a:r>
            <a:pPr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3. Expert Triage: 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Admin-verified agronomist reviews high-resolution photo.
</a:t>
            </a:r>
            <a:pPr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4. Prescription: 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Organic &amp; chemical treatment pushed back to Farmer dashboard.</a:t>
            </a:r>
            <a:endParaRPr lang="en-US" sz="880" dirty="0"/>
          </a:p>
        </p:txBody>
      </p:sp>
      <p:pic>
        <p:nvPicPr>
          <p:cNvPr id="14" name="Image 0" descr="D:/sih/backend/src/uploads/1789360939138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3520440"/>
            <a:ext cx="1828800" cy="13258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754880" y="3520440"/>
            <a:ext cx="1828800" cy="1325880"/>
          </a:xfrm>
          <a:prstGeom prst="rect">
            <a:avLst/>
          </a:prstGeom>
          <a:noFill/>
          <a:ln w="12700">
            <a:solidFill>
              <a:srgbClr val="16653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20840" y="352044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3611880"/>
            <a:ext cx="1691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Real Field Upload:
</a:t>
            </a:r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Early Blight &amp; Rust triage</a:t>
            </a:r>
            <a:endParaRPr lang="en-US" sz="90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Saves up to ₹40,000/acre</a:t>
            </a:r>
            <a:endParaRPr lang="en-US" sz="90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2-4 hr specialist turnaround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65176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TOPIC 3: FEASIBILITY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Operational, Technical &amp; Logistical Feasibility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Grounded in existing rural infrastructure with minimal capital expenditure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1. Regional Hub Model (Zero CapEx)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Reuses Existing Rural Assets: Uses Gram Panchayat halls, Primary Agricultural Credit Societies (PACS), or vacant village community centers.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No Multi-Crore Warehouses: Focuses on quick aggregation &amp; same-day transit rather than long-term frozen storage.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Decentralized Resilience: Outages in one hub do not affect neighboring regional hubs.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0F9FF"/>
          </a:solidFill>
          <a:ln w="19050">
            <a:solidFill>
              <a:srgbClr val="7DD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</a:rPr>
              <a:t>2. Local Human Capital (Coordinator)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Rural Youth &amp; SHGs: Hub coordinators recruited from local village communities, commanding high trust among farmers.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Inbound Quality Assurance: Produce is physically graded, weighed, and approved right at the hub upon farmer drop-off.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Micro-Employment: Creates 2-4 tech-enabled jobs per regional hub.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AF5FF"/>
          </a:solidFill>
          <a:ln w="19050">
            <a:solidFill>
              <a:srgbClr val="D8B4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64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3. Technical &amp; Network Accessibility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2G/3G Network Optimized: Ultra-lean bundle size (~180KB gzip), renders effortlessly on low-end Android smartphones.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Native Bilingual UX: English + Telugu interfaces ensure zero literacy friction for rural agriculturalists.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Zero App Installation Friction: Progressive web architecture runs in any mobile browser without Play Store overhead.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64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4. Demand-Driven Logistics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Pre-Harvest Harvesting: Farmers harvest produce only after pre-orders hit aggregate dispatch quotas.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Route Optimization: Point-to-point hub dispatch reduces transport mileage by 55% compared to mandi circuiting.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Zero Stale Stock: All produce dispatched within 12-24 hours of cutting.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65176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TOPIC 3: VIABILITY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Unit Economics &amp; The 25% Advance Escrow Innovation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Self-sustaining financial mechanics that eliminate perishable inventory defaults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</a:rPr>
              <a:t>The 25% Advance Escrow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35661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• The #1 Failure of Agri-Commerce: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High cancellation rates on perishable Cash-on-Delivery orders cause crippling losses.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• FarmDirect 25% Escrow Solution: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Consumers pay a 25% security commitment deposit at checkout. Remaining 75% settled at hub pickup or home delivery.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• Minimum Order Thresholds: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Enforces ₹100 minimum for Hub Pickup and ₹300 for Doorstep Delivery to guarantee logistics viability.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• Guaranteed Farmer Settlement: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Farmers are 100% safeguarded against uncollected stock.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Unit Economics (Per ₹100 Consumer Value)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Conventional Supply Chain:
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Farmer Receives: ₹28  |  Middlemen Take: ₹72  |  Consumer Pays: ₹100
</a:t>
            </a:r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FarmDirect Hub Model: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Farmer Receives: ₹68  (+142% Income Boost!)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Regional Coordinator: ₹6  |  Platform Fee: ₹4  |  Local Transit: ₹4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Consumer Pays: ₹82  (18% Consumer Savings!)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52044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611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</a:rPr>
              <a:t>Revenue Streams &amp; Hub Break-Even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38862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Revenue: 3-5% B2B bulk commission + premium advisory subscriptions.
</a:t>
            </a:r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• Break-Even: 1 Regional Hub serving 50 farmers and 200 orders/day breaks even in 45 days.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65176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TOPIC 4: IMPACTS AND BENEFITS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Direct Stakeholder Prosperity: Farmers &amp; Consumers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Delivering tangible, quantifiable financial and nutritional advantages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+35% to 45%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Farmer Income Surge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Direct market pricing removes unrecorded APMC deductions, weighment theft, and broker cuts.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0F9FF"/>
          </a:solidFill>
          <a:ln w="19050">
            <a:solidFill>
              <a:srgbClr val="7DD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</a:rPr>
              <a:t>15% to 20%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1600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Consumer Price Savings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Cheaper than supermarkets while delivering fresher harvest picked within 12-24 hours.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AF5FF"/>
          </a:solidFill>
          <a:ln w="19050">
            <a:solidFill>
              <a:srgbClr val="D8B4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12-24 Hours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6032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Farm-to-Fork Speed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337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Down from 5-7 days in conventional transit. Maximizes nutritional retention and taste.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₹40,000/Acre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0" y="2971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Crop Loss Prevented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Rapid tele-pathology intervention by certified agronomists halts epidemic spread early.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Verified Stakeholder Impact: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Farmers get prompt digital payments &amp; transparency. Consumers know exactly which local farmer grew their food.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65176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TOPIC 4: IMPACTS AND BENEFITS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Systemic, Environmental &amp; National Policy Alignment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Transforming agricultural sustainability and rural economic resilience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60%+ Reduction in Food Wastage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By substituting speculative harvesting with demand-driven pre-booking, perishable spoilage drops from ~40% to under 5%, preserving millions of tons of edible produce.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0F9FF"/>
          </a:solidFill>
          <a:ln w="19050">
            <a:solidFill>
              <a:srgbClr val="7DD3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</a:rPr>
              <a:t>Decarbonization &amp; Food Miles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Hyper-local hub routing (within 30-50 km radii) eliminates 3-4 redundant transit hops in diesel trucks, drastically cutting agricultural carbon emissions.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AF5FF"/>
          </a:solidFill>
          <a:ln w="19050">
            <a:solidFill>
              <a:srgbClr val="D8B4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Rural Youth &amp; Women Empowerment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Regional hubs create local dignified employment for rural youth and women Self-Help Groups (SHGs) as quality inspectors, coordinators, and logistics partners.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National Policy Alignment &amp; SDGs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Directly supports PM Kisan Samman Nidhi, Digital Agriculture Mission, and UN Sustainable Development Goals: SDG 1 (No Poverty), SDG 2 (Zero Hunger), SDG 12 (Responsible Production).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65176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</a:rPr>
              <a:t>CONCLUSION &amp; FUTURE ROADMAP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Phased Execution Roadmap &amp; Vision for Indian Agriculture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From working hackathon prototype to a pan-India rural agricultural backbone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630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72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Phase 1: Current MVP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475569"/>
                </a:solidFill>
              </a:rPr>
              <a:t>Completed &amp; Deployed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Full 6-portal working architecture.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25% Advance Escrow &amp; ₹100/₹300 limits.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15-crop statistical advisory engine.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Adviser tele-pathology image upload loop.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Admin KYC gating for farmers &amp; coordinators.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Production deployment on Render.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0F9FF"/>
          </a:solidFill>
          <a:ln w="19050">
            <a:solidFill>
              <a:srgbClr val="7DD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72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</a:rPr>
              <a:t>Phase 2: Next 6 Months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1828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475569"/>
                </a:solidFill>
              </a:rPr>
              <a:t>Scale &amp; AI Automation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Edge AI (MobileNet / YOLO) on-device instant crop disease classification.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WhatsApp &amp; IVR voice-bot ordering for non-smartphone farmers.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Pilot expansion: 10 regional hubs covering 1,000 farmers and 5,000 consumers.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Integration with UPI AutoPay.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AF5FF"/>
          </a:solidFill>
          <a:ln w="19050">
            <a:solidFill>
              <a:srgbClr val="D8B4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72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Phase 3: Months 6-18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475569"/>
                </a:solidFill>
              </a:rPr>
              <a:t>Pan-India Enterprise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172200" y="21031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IoT smart sensors at hubs for real-time temp/humidity monitoring.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Integration with national e-NAM portal and FPO collectives.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Electric-vehicle (EV) 3-wheeler green delivery fleet partnerships.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• Cold-chain micro-cooling container hubs.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4532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FarmDirect Hub: Fair Prices for Farmers, Fresh Nutrition for Consumers, Zero Food Wastage.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Smart India Hackathon 2026 — Agriculture &amp; Rural Development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Smart India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FarmDirect Hub: Revolutionizing Farm-to-Consumer Agricultural Supply Chain</dc:title>
  <dc:subject>FarmDirect Hub SIH Presentation</dc:subject>
  <dc:creator>FarmDirect Hub Team - SIH 2026</dc:creator>
  <cp:lastModifiedBy>FarmDirect Hub Team - SIH 2026</cp:lastModifiedBy>
  <cp:revision>1</cp:revision>
  <dcterms:created xsi:type="dcterms:W3CDTF">2026-09-21T17:59:39Z</dcterms:created>
  <dcterms:modified xsi:type="dcterms:W3CDTF">2026-09-21T17:59:39Z</dcterms:modified>
</cp:coreProperties>
</file>